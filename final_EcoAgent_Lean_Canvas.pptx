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an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244440" y="762120"/>
            <a:ext cx="9407160" cy="5638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Box 6"/>
          <p:cNvSpPr/>
          <p:nvPr/>
        </p:nvSpPr>
        <p:spPr>
          <a:xfrm>
            <a:off x="247680" y="304920"/>
            <a:ext cx="2063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The Lean Canvas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7"/>
          <p:cNvSpPr/>
          <p:nvPr/>
        </p:nvSpPr>
        <p:spPr>
          <a:xfrm>
            <a:off x="3860640" y="184320"/>
            <a:ext cx="1402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7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Designed for: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8"/>
          <p:cNvSpPr/>
          <p:nvPr/>
        </p:nvSpPr>
        <p:spPr>
          <a:xfrm>
            <a:off x="5586480" y="181080"/>
            <a:ext cx="1402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7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Designed by: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9"/>
          <p:cNvSpPr/>
          <p:nvPr/>
        </p:nvSpPr>
        <p:spPr>
          <a:xfrm>
            <a:off x="7664400" y="181080"/>
            <a:ext cx="12139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7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Date: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10"/>
          <p:cNvSpPr/>
          <p:nvPr/>
        </p:nvSpPr>
        <p:spPr>
          <a:xfrm>
            <a:off x="9142560" y="181080"/>
            <a:ext cx="620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7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Version: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11"/>
          <p:cNvSpPr/>
          <p:nvPr/>
        </p:nvSpPr>
        <p:spPr>
          <a:xfrm>
            <a:off x="244440" y="78912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Problem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12"/>
          <p:cNvSpPr/>
          <p:nvPr/>
        </p:nvSpPr>
        <p:spPr>
          <a:xfrm>
            <a:off x="244440" y="264960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Existing Alternatives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13"/>
          <p:cNvSpPr/>
          <p:nvPr/>
        </p:nvSpPr>
        <p:spPr>
          <a:xfrm>
            <a:off x="244440" y="457200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Cost Structure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14"/>
          <p:cNvSpPr/>
          <p:nvPr/>
        </p:nvSpPr>
        <p:spPr>
          <a:xfrm>
            <a:off x="2124000" y="789120"/>
            <a:ext cx="17506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Solution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15"/>
          <p:cNvSpPr/>
          <p:nvPr/>
        </p:nvSpPr>
        <p:spPr>
          <a:xfrm>
            <a:off x="2124000" y="2649600"/>
            <a:ext cx="17506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Key Metrics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16"/>
          <p:cNvSpPr/>
          <p:nvPr/>
        </p:nvSpPr>
        <p:spPr>
          <a:xfrm>
            <a:off x="4025880" y="78912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Unique Value Prop.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17"/>
          <p:cNvSpPr/>
          <p:nvPr/>
        </p:nvSpPr>
        <p:spPr>
          <a:xfrm>
            <a:off x="4025880" y="264960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High-Level Concept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Box 18"/>
          <p:cNvSpPr/>
          <p:nvPr/>
        </p:nvSpPr>
        <p:spPr>
          <a:xfrm>
            <a:off x="5919840" y="78264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Unfair Advantage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Box 19"/>
          <p:cNvSpPr/>
          <p:nvPr/>
        </p:nvSpPr>
        <p:spPr>
          <a:xfrm>
            <a:off x="5919840" y="2643120"/>
            <a:ext cx="1749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Channels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Box 20"/>
          <p:cNvSpPr/>
          <p:nvPr/>
        </p:nvSpPr>
        <p:spPr>
          <a:xfrm>
            <a:off x="7818480" y="78912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Customer Segments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21"/>
          <p:cNvSpPr/>
          <p:nvPr/>
        </p:nvSpPr>
        <p:spPr>
          <a:xfrm>
            <a:off x="7818480" y="264960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Early Adopters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22"/>
          <p:cNvSpPr/>
          <p:nvPr/>
        </p:nvSpPr>
        <p:spPr>
          <a:xfrm>
            <a:off x="4973760" y="4572000"/>
            <a:ext cx="1749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Revenue Streams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24"/>
          <p:cNvSpPr/>
          <p:nvPr/>
        </p:nvSpPr>
        <p:spPr>
          <a:xfrm>
            <a:off x="244440" y="762120"/>
            <a:ext cx="1879200" cy="3809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" name="Rectangle 25"/>
          <p:cNvSpPr/>
          <p:nvPr/>
        </p:nvSpPr>
        <p:spPr>
          <a:xfrm>
            <a:off x="2124000" y="760320"/>
            <a:ext cx="1881000" cy="188244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Rectangle 26"/>
          <p:cNvSpPr/>
          <p:nvPr/>
        </p:nvSpPr>
        <p:spPr>
          <a:xfrm>
            <a:off x="2124000" y="2643120"/>
            <a:ext cx="1881000" cy="1928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" name="Rectangle 27"/>
          <p:cNvSpPr/>
          <p:nvPr/>
        </p:nvSpPr>
        <p:spPr>
          <a:xfrm>
            <a:off x="4005360" y="762120"/>
            <a:ext cx="1879200" cy="3809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" name="Rectangle 28"/>
          <p:cNvSpPr/>
          <p:nvPr/>
        </p:nvSpPr>
        <p:spPr>
          <a:xfrm>
            <a:off x="5884920" y="762120"/>
            <a:ext cx="1879200" cy="188244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" name="Rectangle 29"/>
          <p:cNvSpPr/>
          <p:nvPr/>
        </p:nvSpPr>
        <p:spPr>
          <a:xfrm>
            <a:off x="5884920" y="2643120"/>
            <a:ext cx="1879200" cy="1928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" name="Rectangle 30"/>
          <p:cNvSpPr/>
          <p:nvPr/>
        </p:nvSpPr>
        <p:spPr>
          <a:xfrm>
            <a:off x="7770960" y="762120"/>
            <a:ext cx="1881000" cy="3809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Rectangle 31"/>
          <p:cNvSpPr/>
          <p:nvPr/>
        </p:nvSpPr>
        <p:spPr>
          <a:xfrm>
            <a:off x="244440" y="4579920"/>
            <a:ext cx="4712760" cy="1820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" name="Rectangle 32"/>
          <p:cNvSpPr/>
          <p:nvPr/>
        </p:nvSpPr>
        <p:spPr>
          <a:xfrm>
            <a:off x="4957920" y="4579920"/>
            <a:ext cx="4692240" cy="1820520"/>
          </a:xfrm>
          <a:prstGeom prst="rect">
            <a:avLst/>
          </a:prstGeom>
          <a:noFill/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" name="Picture 37" descr="channels.png"/>
          <p:cNvPicPr/>
          <p:nvPr/>
        </p:nvPicPr>
        <p:blipFill>
          <a:blip r:embed="rId2"/>
          <a:stretch/>
        </p:blipFill>
        <p:spPr>
          <a:xfrm>
            <a:off x="7326360" y="2625840"/>
            <a:ext cx="288720" cy="2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38" descr="cost-structure.png"/>
          <p:cNvPicPr/>
          <p:nvPr/>
        </p:nvPicPr>
        <p:blipFill>
          <a:blip r:embed="rId3"/>
          <a:stretch/>
        </p:blipFill>
        <p:spPr>
          <a:xfrm>
            <a:off x="4605480" y="457200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39" descr="customer-segments.png"/>
          <p:cNvPicPr/>
          <p:nvPr/>
        </p:nvPicPr>
        <p:blipFill>
          <a:blip r:embed="rId4"/>
          <a:stretch/>
        </p:blipFill>
        <p:spPr>
          <a:xfrm>
            <a:off x="9255240" y="76212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40" descr="early-adopters.png"/>
          <p:cNvPicPr/>
          <p:nvPr/>
        </p:nvPicPr>
        <p:blipFill>
          <a:blip r:embed="rId5"/>
          <a:stretch/>
        </p:blipFill>
        <p:spPr>
          <a:xfrm>
            <a:off x="9255240" y="260676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41" descr="existing-alternatives.png"/>
          <p:cNvPicPr/>
          <p:nvPr/>
        </p:nvPicPr>
        <p:blipFill>
          <a:blip r:embed="rId6"/>
          <a:stretch/>
        </p:blipFill>
        <p:spPr>
          <a:xfrm>
            <a:off x="1752480" y="2625840"/>
            <a:ext cx="286920" cy="2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42" descr="high-level-concept.png"/>
          <p:cNvPicPr/>
          <p:nvPr/>
        </p:nvPicPr>
        <p:blipFill>
          <a:blip r:embed="rId7"/>
          <a:stretch/>
        </p:blipFill>
        <p:spPr>
          <a:xfrm>
            <a:off x="5532480" y="2625840"/>
            <a:ext cx="288720" cy="2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44" descr="key-metrics.png"/>
          <p:cNvPicPr/>
          <p:nvPr/>
        </p:nvPicPr>
        <p:blipFill>
          <a:blip r:embed="rId8"/>
          <a:stretch/>
        </p:blipFill>
        <p:spPr>
          <a:xfrm>
            <a:off x="3652920" y="2625840"/>
            <a:ext cx="288720" cy="2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45" descr="problem.png"/>
          <p:cNvPicPr/>
          <p:nvPr/>
        </p:nvPicPr>
        <p:blipFill>
          <a:blip r:embed="rId9"/>
          <a:stretch/>
        </p:blipFill>
        <p:spPr>
          <a:xfrm>
            <a:off x="1752480" y="762120"/>
            <a:ext cx="2869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46" descr="revenue-streams.png"/>
          <p:cNvPicPr/>
          <p:nvPr/>
        </p:nvPicPr>
        <p:blipFill>
          <a:blip r:embed="rId10"/>
          <a:stretch/>
        </p:blipFill>
        <p:spPr>
          <a:xfrm>
            <a:off x="9255240" y="457200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Picture 47" descr="solution.png"/>
          <p:cNvPicPr/>
          <p:nvPr/>
        </p:nvPicPr>
        <p:blipFill>
          <a:blip r:embed="rId11"/>
          <a:stretch/>
        </p:blipFill>
        <p:spPr>
          <a:xfrm>
            <a:off x="3652920" y="76824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48" descr="unfair-advantage.png"/>
          <p:cNvPicPr/>
          <p:nvPr/>
        </p:nvPicPr>
        <p:blipFill>
          <a:blip r:embed="rId12"/>
          <a:stretch/>
        </p:blipFill>
        <p:spPr>
          <a:xfrm>
            <a:off x="7326360" y="76212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49" descr="unique-value-proposition.png"/>
          <p:cNvPicPr/>
          <p:nvPr/>
        </p:nvPicPr>
        <p:blipFill>
          <a:blip r:embed="rId13"/>
          <a:stretch/>
        </p:blipFill>
        <p:spPr>
          <a:xfrm>
            <a:off x="5532480" y="762120"/>
            <a:ext cx="288720" cy="2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309600" y="1066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2185200" y="1066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067640" y="1066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5948640" y="105624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7835760" y="105624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09600" y="2965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181"/>
              </a:spcBef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457200">
              <a:spcBef>
                <a:spcPts val="181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2196720" y="2965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body"/>
          </p:nvPr>
        </p:nvSpPr>
        <p:spPr>
          <a:xfrm>
            <a:off x="4072680" y="2965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181"/>
              </a:spcBef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457200">
              <a:spcBef>
                <a:spcPts val="181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9"/>
          <p:cNvSpPr>
            <a:spLocks noGrp="1"/>
          </p:cNvSpPr>
          <p:nvPr>
            <p:ph type="body"/>
          </p:nvPr>
        </p:nvSpPr>
        <p:spPr>
          <a:xfrm>
            <a:off x="5952240" y="2965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0"/>
          <p:cNvSpPr>
            <a:spLocks noGrp="1"/>
          </p:cNvSpPr>
          <p:nvPr>
            <p:ph type="body"/>
          </p:nvPr>
        </p:nvSpPr>
        <p:spPr>
          <a:xfrm>
            <a:off x="7835760" y="2965680"/>
            <a:ext cx="1753920" cy="152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181"/>
              </a:spcBef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457200">
              <a:spcBef>
                <a:spcPts val="181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1"/>
          <p:cNvSpPr>
            <a:spLocks noGrp="1"/>
          </p:cNvSpPr>
          <p:nvPr>
            <p:ph type="body"/>
          </p:nvPr>
        </p:nvSpPr>
        <p:spPr>
          <a:xfrm>
            <a:off x="309600" y="4876920"/>
            <a:ext cx="456084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444444"/>
              </a:buClr>
              <a:buFont typeface="Arial"/>
              <a:buChar char="•"/>
              <a:tabLst>
                <a:tab pos="0" algn="l"/>
              </a:tabLst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444444"/>
              </a:buClr>
              <a:buFont typeface="Arial"/>
              <a:buChar char="»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444444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444444"/>
              </a:buClr>
              <a:buFont typeface="Arial"/>
              <a:buChar char="»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2"/>
          <p:cNvSpPr>
            <a:spLocks noGrp="1"/>
          </p:cNvSpPr>
          <p:nvPr>
            <p:ph type="body"/>
          </p:nvPr>
        </p:nvSpPr>
        <p:spPr>
          <a:xfrm>
            <a:off x="5056200" y="4876920"/>
            <a:ext cx="453348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444444"/>
              </a:buClr>
              <a:buFont typeface="Arial"/>
              <a:buChar char="•"/>
              <a:tabLst>
                <a:tab pos="0" algn="l"/>
              </a:tabLst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4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444444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444444"/>
              </a:buClr>
              <a:buFont typeface="Arial"/>
              <a:buChar char="–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3"/>
          <p:cNvSpPr>
            <a:spLocks noGrp="1"/>
          </p:cNvSpPr>
          <p:nvPr>
            <p:ph type="body"/>
          </p:nvPr>
        </p:nvSpPr>
        <p:spPr>
          <a:xfrm>
            <a:off x="3962520" y="380880"/>
            <a:ext cx="14029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4"/>
          <p:cNvSpPr>
            <a:spLocks noGrp="1"/>
          </p:cNvSpPr>
          <p:nvPr>
            <p:ph type="body"/>
          </p:nvPr>
        </p:nvSpPr>
        <p:spPr>
          <a:xfrm>
            <a:off x="5685120" y="380880"/>
            <a:ext cx="14029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5"/>
          <p:cNvSpPr>
            <a:spLocks noGrp="1"/>
          </p:cNvSpPr>
          <p:nvPr>
            <p:ph type="body"/>
          </p:nvPr>
        </p:nvSpPr>
        <p:spPr>
          <a:xfrm>
            <a:off x="7759800" y="380880"/>
            <a:ext cx="11552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6"/>
          <p:cNvSpPr>
            <a:spLocks noGrp="1"/>
          </p:cNvSpPr>
          <p:nvPr>
            <p:ph type="body"/>
          </p:nvPr>
        </p:nvSpPr>
        <p:spPr>
          <a:xfrm>
            <a:off x="9245520" y="380880"/>
            <a:ext cx="41256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businessmodelgeneration.com/canvas" TargetMode="External"/><Relationship Id="rId2" Type="http://schemas.openxmlformats.org/officeDocument/2006/relationships/hyperlink" Target="https://neoschronos.com" TargetMode="External"/><Relationship Id="rId3" Type="http://schemas.openxmlformats.org/officeDocument/2006/relationships/hyperlink" Target="https://creativecommons.org/licenses/by-sa/3.0/" TargetMode="External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/>
          </p:nvPr>
        </p:nvSpPr>
        <p:spPr>
          <a:xfrm>
            <a:off x="309600" y="106668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Households don't know how much electricity each appliance uses, so the monthly bill is always a surprise.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Utility meters show only one total figure: no appliance-wise split, and no link to cost in ₹ or CO₂ emissions.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Without personalised guidance, people can't tell which habits to change to save money and cut emissions.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2185920" y="106668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EcoAgent is a web app that estimates daily kWh for each appliance using a Random Forest model blended with the physics formula (hours × qty × watts).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It converts usage into cost using state-wise tariffs and into CO₂ (0.708 kg/kWh), with monthly and yearly summaries.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Live weather, personalised saving tips and PDF/CSV reports are built in.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067280" y="106668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Know your energy use appliance by appliance.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Hybrid ML + physics estimate for better accuracy.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Electricity cost in ₹ using state-wise tariffs.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Carbon footprint (CO₂) shown alongside cost.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Weather-aware predictions with live temperature.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Personalised energy-saving recommendations.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457200">
              <a:lnSpc>
                <a:spcPct val="100000"/>
              </a:lnSpc>
              <a:spcBef>
                <a:spcPts val="119"/>
              </a:spcBef>
              <a:buClr>
                <a:srgbClr val="444444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Downloadable PDF and CSV reports.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948280" y="105552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Hybrid Random Forest + physics-based estimation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Live weather and state-specific tariffs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No smart meter or extra hardware needed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Admin dashboard with state-wise yearly forecast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7835760" y="105552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Urban and semi-urban Indian households (all 28 states)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Students, tenants and cost-conscious families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Eco-aware individuals who want to cut their carbon footprint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Housing societies, hostels and small offices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/>
          </p:nvPr>
        </p:nvSpPr>
        <p:spPr>
          <a:xfrm>
            <a:off x="309600" y="2978280"/>
            <a:ext cx="1753920" cy="1517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Utility bills / meter readings (monthly total only)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Manual calculation in spreadsheets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Smart plugs and smart meters (extra hardware cost)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Generic online energy calculators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State electricity board (DISCOM) apps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r>
              <a:rPr lang="en-GB" sz="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Rules of thumb and advice from friends/family</a:t>
            </a:r>
            <a:endParaRPr lang="en-US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/>
          </p:nvPr>
        </p:nvSpPr>
        <p:spPr>
          <a:xfrm>
            <a:off x="2197080" y="296532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Registered users and returning users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Appliance records saved per user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Model accuracy (MAE, RMSE, R²)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Average kWh and ₹ saved per user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PDF/CSV report downloads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8"/>
          <p:cNvSpPr>
            <a:spLocks noGrp="1"/>
          </p:cNvSpPr>
          <p:nvPr>
            <p:ph/>
          </p:nvPr>
        </p:nvSpPr>
        <p:spPr>
          <a:xfrm>
            <a:off x="4071960" y="2965320"/>
            <a:ext cx="175536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EcoAgent = smart energy assistant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EcoAgent = cost and CO₂ calculator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EcoAgent = personal energy-saving coach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9"/>
          <p:cNvSpPr>
            <a:spLocks noGrp="1"/>
          </p:cNvSpPr>
          <p:nvPr>
            <p:ph/>
          </p:nvPr>
        </p:nvSpPr>
        <p:spPr>
          <a:xfrm>
            <a:off x="5951520" y="296532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College demos and project showcases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Social media (Instagram, LinkedIn, YouTube)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Public web link (Streamlit Cloud)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GitHub / open-source community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Eco clubs, NGOs and housing societies (RWAs)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39"/>
              </a:spcBef>
              <a:buNone/>
              <a:tabLst>
                <a:tab pos="0" algn="l"/>
              </a:tabLst>
            </a:pP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Word of mouth</a:t>
            </a:r>
            <a:endParaRPr lang="en-US" sz="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0"/>
          <p:cNvSpPr>
            <a:spLocks noGrp="1"/>
          </p:cNvSpPr>
          <p:nvPr>
            <p:ph/>
          </p:nvPr>
        </p:nvSpPr>
        <p:spPr>
          <a:xfrm>
            <a:off x="7835760" y="2965320"/>
            <a:ext cx="1753920" cy="153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Students and tech-savvy, eco-conscious households in states with configured tariffs (Gujarat, Maharashtra, Rajasthan, Karnataka).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Housing societies, hostels and campuses wanting energy awareness.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1"/>
          <p:cNvSpPr>
            <a:spLocks noGrp="1"/>
          </p:cNvSpPr>
          <p:nvPr>
            <p:ph/>
          </p:nvPr>
        </p:nvSpPr>
        <p:spPr>
          <a:xfrm>
            <a:off x="309600" y="4876920"/>
            <a:ext cx="187596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59"/>
              </a:spcBef>
              <a:buNone/>
              <a:tabLst>
                <a:tab pos="0" algn="l"/>
              </a:tabLst>
            </a:pPr>
            <a:r>
              <a:rPr lang="en-GB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Hosting (Streamlit / cloud server)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59"/>
              </a:spcBef>
              <a:buNone/>
              <a:tabLst>
                <a:tab pos="0" algn="l"/>
              </a:tabLst>
            </a:pPr>
            <a:r>
              <a:rPr lang="en-GB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Database (SQLite, later managed DB)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59"/>
              </a:spcBef>
              <a:buNone/>
              <a:tabLst>
                <a:tab pos="0" algn="l"/>
              </a:tabLst>
            </a:pPr>
            <a:r>
              <a:rPr lang="en-GB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Open-Meteo weather API (free tier)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59"/>
              </a:spcBef>
              <a:buNone/>
              <a:tabLst>
                <a:tab pos="0" algn="l"/>
              </a:tabLst>
            </a:pPr>
            <a:r>
              <a:rPr lang="en-GB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Dataset upkeep and model retraining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2"/>
          <p:cNvSpPr>
            <a:spLocks noGrp="1"/>
          </p:cNvSpPr>
          <p:nvPr>
            <p:ph/>
          </p:nvPr>
        </p:nvSpPr>
        <p:spPr>
          <a:xfrm>
            <a:off x="5056200" y="4876920"/>
            <a:ext cx="453348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Freemium: free basic estimates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Subscription for premium reports and forecasts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B2B licences for societies, colleges and offices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Admin analytics for utilities and energy auditors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Affiliate links for energy-efficient (BEE star) appliances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Sponsorships / CSR from green-energy brands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3"/>
          <p:cNvSpPr>
            <a:spLocks noGrp="1"/>
          </p:cNvSpPr>
          <p:nvPr>
            <p:ph/>
          </p:nvPr>
        </p:nvSpPr>
        <p:spPr>
          <a:xfrm>
            <a:off x="3962520" y="380880"/>
            <a:ext cx="14029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SDG-13 climate action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4"/>
          <p:cNvSpPr>
            <a:spLocks noGrp="1"/>
          </p:cNvSpPr>
          <p:nvPr>
            <p:ph/>
          </p:nvPr>
        </p:nvSpPr>
        <p:spPr>
          <a:xfrm>
            <a:off x="5684760" y="380880"/>
            <a:ext cx="14029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spcBef>
                <a:spcPts val="181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Davit sharma 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5"/>
          <p:cNvSpPr>
            <a:spLocks noGrp="1"/>
          </p:cNvSpPr>
          <p:nvPr>
            <p:ph/>
          </p:nvPr>
        </p:nvSpPr>
        <p:spPr>
          <a:xfrm>
            <a:off x="7759800" y="380880"/>
            <a:ext cx="11552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10/10/2026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6"/>
          <p:cNvSpPr>
            <a:spLocks noGrp="1"/>
          </p:cNvSpPr>
          <p:nvPr>
            <p:ph/>
          </p:nvPr>
        </p:nvSpPr>
        <p:spPr>
          <a:xfrm>
            <a:off x="9245520" y="380880"/>
            <a:ext cx="41256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81"/>
              </a:spcBef>
              <a:buNone/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1.0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51"/>
          <p:cNvSpPr/>
          <p:nvPr/>
        </p:nvSpPr>
        <p:spPr>
          <a:xfrm>
            <a:off x="247680" y="6458040"/>
            <a:ext cx="9410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7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S PGothic"/>
              </a:rPr>
              <a:t>Lean Canvas is adapted from The Business Model Canvas (</a:t>
            </a:r>
            <a:r>
              <a:rPr lang="en-GB" sz="700" b="0" u="sng" strike="noStrike">
                <a:solidFill>
                  <a:srgbClr val="787828"/>
                </a:solidFill>
                <a:effectLst/>
                <a:uFillTx/>
                <a:latin typeface="Arial"/>
                <a:ea typeface="MS PGothic"/>
                <a:hlinkClick r:id="rId1"/>
              </a:rPr>
              <a:t>www.businessmodelgeneration.com/canvas</a:t>
            </a:r>
            <a:r>
              <a:rPr lang="en-GB" sz="7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S PGothic"/>
              </a:rPr>
              <a:t>). PowerPoint implementation by: Neos Chronos Limited </a:t>
            </a: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(</a:t>
            </a:r>
            <a:r>
              <a:rPr lang="en-GB" sz="700" b="0" u="sng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  <a:hlinkClick r:id="rId2"/>
              </a:rPr>
              <a:t>https://neoschronos.com</a:t>
            </a:r>
            <a:r>
              <a:rPr lang="en-GB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). License: </a:t>
            </a:r>
            <a:r>
              <a:rPr lang="en-US" sz="700" b="0" u="sng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  <a:hlinkClick r:id="rId3"/>
              </a:rPr>
              <a:t>CC BY-SA 3.0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Placeholder 62"/>
          <p:cNvSpPr/>
          <p:nvPr/>
        </p:nvSpPr>
        <p:spPr>
          <a:xfrm>
            <a:off x="2514600" y="4843080"/>
            <a:ext cx="205704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  <a:spcBef>
                <a:spcPts val="181"/>
              </a:spcBef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Development and maintenance cost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1"/>
              </a:spcBef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1"/>
              </a:spcBef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Tariff data updates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1"/>
              </a:spcBef>
              <a:tabLst>
                <a:tab pos="0" algn="l"/>
              </a:tabLst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 support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os Chronos">
      <a:dk1>
        <a:srgbClr val="444444"/>
      </a:dk1>
      <a:lt1>
        <a:srgbClr val="FFFFFF"/>
      </a:lt1>
      <a:dk2>
        <a:srgbClr val="222222"/>
      </a:dk2>
      <a:lt2>
        <a:srgbClr val="F3F3F3"/>
      </a:lt2>
      <a:accent1>
        <a:srgbClr val="669933"/>
      </a:accent1>
      <a:accent2>
        <a:srgbClr val="38BEEA"/>
      </a:accent2>
      <a:accent3>
        <a:srgbClr val="EA38C0"/>
      </a:accent3>
      <a:accent4>
        <a:srgbClr val="EABB38"/>
      </a:accent4>
      <a:accent5>
        <a:srgbClr val="788C92"/>
      </a:accent5>
      <a:accent6>
        <a:srgbClr val="EA6238"/>
      </a:accent6>
      <a:hlink>
        <a:srgbClr val="787828"/>
      </a:hlink>
      <a:folHlink>
        <a:srgbClr val="9AA291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HyperlinkBase>https://neoschronos.com/assets/</HyperlinkBase>
  <AppVersion>15.0000</AppVersion>
  <Words>2965</Words>
  <Paragraphs>81</Paragraphs>
  <Company>Neos Chronos Limited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PowerPoint Template PPT</cp:category>
  <dcterms:created xsi:type="dcterms:W3CDTF">2019-04-01T16:49:00Z</dcterms:created>
  <dc:creator>Thomas Papanikolaou</dc:creator>
  <dc:description>Lean Canvas is adapted from The Business Model Canvas (www.businessmodelgeneration.com/canvas). This work is licensed under the Creative Commons Attribution-Share Alike 3.0 Unported License.</dc:description>
  <cp:keywords>Lean Canvas Template Powerpoint ppt pptx English Free</cp:keywords>
  <dc:language>en-US</dc:language>
  <cp:lastModifiedBy/>
  <cp:lastPrinted>2019-04-01T19:25:00Z</cp:lastPrinted>
  <dcterms:modified xsi:type="dcterms:W3CDTF">2026-10-15T23:34:27Z</dcterms:modified>
  <cp:revision>41</cp:revision>
  <dc:subject/>
  <dc:title>Lean Canvas Template PPT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FC4D179AE636421BB2EC81055787D952_13</vt:lpwstr>
  </property>
  <property fmtid="{D5CDD505-2E9C-101B-9397-08002B2CF9AE}" pid="3" name="KSOProductBuildVer">
    <vt:lpwstr>1033-12.1.0.28485</vt:lpwstr>
  </property>
  <property fmtid="{D5CDD505-2E9C-101B-9397-08002B2CF9AE}" pid="4" name="PresentationFormat">
    <vt:lpwstr>A4 Paper (210x297 mm)</vt:lpwstr>
  </property>
  <property fmtid="{D5CDD505-2E9C-101B-9397-08002B2CF9AE}" pid="5" name="Slides">
    <vt:i4>1</vt:i4>
  </property>
</Properties>
</file>